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 Growth Rate</c:v>
                </c:pt>
              </c:strCache>
            </c:strRef>
          </c:tx>
          <c:spPr>
            <a:solidFill>
              <a:srgbClr val="3DA5D9"/>
            </a:solidFill>
          </c:spPr>
          <c:cat>
            <c:strRef>
              <c:f>Sheet1!$A$2:$A$7</c:f>
              <c:strCache>
                <c:ptCount val="6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2020</c:v>
                </c:pt>
                <c:pt idx="5">
                  <c:v>2022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5.8</c:v>
                </c:pt>
                <c:pt idx="1">
                  <c:v>7.5</c:v>
                </c:pt>
                <c:pt idx="2">
                  <c:v>8.5</c:v>
                </c:pt>
                <c:pt idx="3">
                  <c:v>7.6</c:v>
                </c:pt>
                <c:pt idx="4">
                  <c:v>4.2</c:v>
                </c:pt>
                <c:pt idx="5">
                  <c:v>6.9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EF4FA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EF4F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1A1A1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image: 2015_07_31_Mombasa_Port_JPEG_RESIZED_0042 by Ministry of East African Affairs, Commerce &amp; Touri (CC PDM 1.0) https://www.flickr.com/photos/132371669@N04/20348770861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can elaborate on the factors contributing to this growth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impact of the pandemic on GDP growth and the dominant role of the service sector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role of foreign and domestic investment in boosting growth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India's growth rate compared to other emerging markets, highlighting the service sector's contribution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importance of infrastructure development and government reforms to sustain growth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importance of infrastructure development and foreign investment in driving economic growth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 Light"/>
              </a:rPr>
              <a:t>India's GDP Growth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3DA5D9"/>
                </a:solidFill>
                <a:latin typeface="Calibri"/>
              </a:rPr>
              <a:t>Unlocking the Potential of the Indian Economy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August 11, 2026</a:t>
            </a:r>
          </a:p>
        </p:txBody>
      </p:sp>
      <p:pic>
        <p:nvPicPr>
          <p:cNvPr id="6" name="Picture 5" descr="fd987bf631d5f74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375" y="0"/>
            <a:ext cx="113523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01    Introduction to India's Economy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02    GDP Growth Trends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03    Key Drivers of Growth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04    Comparison with Peer Nations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05    Challenges and Opportunities Ahead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06    Recommendations for Sustained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86100"/>
            <a:ext cx="99971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 Light"/>
              </a:rPr>
              <a:t>Introduction to India's Economy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3DA5D9"/>
                </a:solidFill>
                <a:latin typeface="Calibri"/>
              </a:rPr>
              <a:t>India's economy has experienced rapid growth in recent years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GDP Growth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767" y="1508760"/>
            <a:ext cx="3413647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India's GDP growth rate was 8.9 percent in 2007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Average annual GDP growth from 2014 to 2020 was 7.1 percent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GDP growth slowed to 4.2 percent in 2020 due to the pandemic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The service sector contributed 54.4 percent to GDP in 2022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1508760"/>
          <a:ext cx="6492057" cy="37417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250484"/>
            <a:ext cx="649205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Illustrative figures — not from a cited source.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India's GDP growth has been steadily increasing over the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India's GDP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1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Key Drivers of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Service sector grew at 9.5 percent from 2015 to 2020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Manufacturing output increased by 7.2 percent in 2019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Foreign investment reached 73.5 billion USD in 2020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Domestic investment rose by 10.3 percent in the first quarter of 2021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Diversified growth across sectors drives India's GDP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India's GDP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Comparison with Peer 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5090007" cy="41148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5090007" cy="502920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27632"/>
            <a:ext cx="46328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 Light"/>
              </a:rPr>
              <a:t>GDP Growth 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46328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India: 7.3 percent in 2021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China: 6.1 percent in 2021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Brazil: 2.3 percent average from 2015 to 2020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554480"/>
            <a:ext cx="5090007" cy="41148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727" y="1554480"/>
            <a:ext cx="5090007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1627632"/>
            <a:ext cx="46328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 Light"/>
              </a:rPr>
              <a:t>Emerging Market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240280"/>
            <a:ext cx="46328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South Africa: 0.8 percent in 2020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Indonesia: 5.2 percent average from 2015 to 2020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Russia: 1.7 percent in 2020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India's GDP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Challenges and Opportunities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66160"/>
            <a:ext cx="10545775" cy="381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52573" y="3457194"/>
            <a:ext cx="256032" cy="25603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35152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34074"/>
                </a:solidFill>
                <a:latin typeface="Calibri"/>
              </a:rPr>
              <a:t>2023-2025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333237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India's GDP growth rate is expected to average 8 percent, driven by service sector and foreign investment</a:t>
            </a:r>
          </a:p>
        </p:txBody>
      </p:sp>
      <p:sp>
        <p:nvSpPr>
          <p:cNvPr id="9" name="Oval 8"/>
          <p:cNvSpPr/>
          <p:nvPr/>
        </p:nvSpPr>
        <p:spPr>
          <a:xfrm>
            <a:off x="5967831" y="3457194"/>
            <a:ext cx="256032" cy="25603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38218" y="2514600"/>
            <a:ext cx="35152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34074"/>
                </a:solidFill>
                <a:latin typeface="Calibri"/>
              </a:rPr>
              <a:t>2025-2027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3886200"/>
            <a:ext cx="333237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The country will need to invest heavily in infrastructure development to sustain growth</a:t>
            </a:r>
          </a:p>
        </p:txBody>
      </p:sp>
      <p:sp>
        <p:nvSpPr>
          <p:cNvPr id="12" name="Oval 11"/>
          <p:cNvSpPr/>
          <p:nvPr/>
        </p:nvSpPr>
        <p:spPr>
          <a:xfrm>
            <a:off x="9483089" y="3457194"/>
            <a:ext cx="256032" cy="25603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53476" y="2514600"/>
            <a:ext cx="35152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34074"/>
                </a:solidFill>
                <a:latin typeface="Calibri"/>
              </a:rPr>
              <a:t>2027-2030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4916" y="3886200"/>
            <a:ext cx="333237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The service sector is expected to drive growth, accounting for 60 percent of India's GDP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India's GDP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Recommendations for Sustained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9600" b="1">
                <a:solidFill>
                  <a:srgbClr val="0B2545"/>
                </a:solidFill>
                <a:latin typeface="Calibri Light"/>
              </a:rPr>
              <a:t>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5A6B7B"/>
                </a:solidFill>
                <a:latin typeface="Calibri"/>
              </a:rPr>
              <a:t>projected annual GDP growth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▪  Invest 1.4 trillion USD in infrastructure development by 2027   ▪  Increase foreign investment to 100 billion USD annually by 2025   ▪  Implement tax reforms to boost manufacturing growth by 10 percent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India's GDP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Image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2015_07_31_Mombasa_Port_JPEG_RESIZED_0042 by Ministry of East African Affairs, Commerce &amp; Touri (CC PDM 1.0) https://www.flickr.com/photos/132371669@N04/20348770861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