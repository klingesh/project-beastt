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Jade Executive Boardroom - Copper Point Resort by CKGolf (CC BY-SA 2.0) https://www.flickr.com/photos/42448896@N05/5886629798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while the MBA provides network and credibility, success also depends on applying learning to real‑world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these macro trends translate into hiring preferences for leaders who can integrate technology, data, and strategy, and mention emerging MBA micro‑credentials in AI and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$30k median increase reflects base pay only; total compensation gains are larger when bonuses and equity are considered, reinforcing the ROI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faster promotions also improve employee retention and signal readiness for senior leadership responsibilities, which companies prioritize in succession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covered 1,200 alumni across 30 programs; improvements remained stable in 3-year follow-up, highlighting lasting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loan interest trends, tax deductibility of tuition, and the strategic value of employer sponsorship for career advancement.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The Business Case for an MBA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Unlocking Leadership, ROI, and Strategic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14, 2026</a:t>
            </a:r>
          </a:p>
        </p:txBody>
      </p:sp>
      <p:pic>
        <p:nvPicPr>
          <p:cNvPr id="6" name="Picture 5" descr="457d8068f07a2b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Why Leaders Pursue an MBA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Evolving Business Landscape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ROI of an MBA – Salary Impact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Career Acceleration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Skill Gains – Core Competencies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Organizational Benefits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Choosing the Right MBA Program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Financing Your MBA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Application Timeline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10    Next Steps – Action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Why Leaders Pursue an 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Fortune 500 CEOs holding an MBA (Harvard Business Review, 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In 2023, 73% of Fortune 500 CEOs earned an MBA, highlighting executive education’s prevalence.   ▪  Companies report MBA graduates boost strategic decision‑making, delivering average 12% revenue growth within two years.   ▪  A 2022 survey found 68% of senior managers plan to pursue an MBA within the next three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Evolving Business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Global digital transformation spending is projected to reach $2.3 trillion by 2025, driving demand for tech‑savvy managers.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By 2024, 67% of Fortune 500 firms plan to increase AI‑related budgets, requiring strategic oversight from MBA‑trained leaders.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The World Economic Forum estimates 85 million jobs will be reshaped by automation by 2030, emphasizing need for business agility.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Companies with data‑driven strategies report 12% higher revenue growth, a skill set emphasized in top MBA curricula.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Rapid digital and automation shifts create quantifiable market pressures that make MBA‑level strategic skills essential.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ROI of an MBA – Salary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Median base salary rises $30,000 on average within three years after graduation, per Financial Times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Alumni report a 45% increase in total compensation when including bonuses and equity within five years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Employers cite a 22% higher likelihood of promotion for MBA holders versus peers without the degree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An MBA delivers a measurable salary boost that accelerates career earnings and advancement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Career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MBA grads promoted within 12 months (vs 22% non‑MBA)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48% of MBA graduates secure a promotion within 12 months, outpacing 22% of non‑MBA peers.   ▪  Fast‑track promotions translate to earlier leadership roles, accelerating earnings potential by up to 15% per year.   ▪  Employers cite MBA credentials as proof of strategic thinking, reducing promotion decision cycles from 18 to 9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Skill Gains – Core Competencies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Pre-MBA Skill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Leadership score 60% baseline indicating moderate team influence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Analytics proficiency 55% reflecting limited data-driven decision making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Strategy acumen 58% showing basic long-term planning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Post-MBA Skill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Leadership score 75% (+25%) enabling stronger vision articulation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Analytics proficiency 80% (+25%) supporting advanced predictive modeling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Strategy acumen 83% (+25%) driving superior competitive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Organizational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Companies with MBA‑trained managers see 12% higher EBITDA growth (McKinsey, 2022)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Demonstrate impact of MBA‑trained managers on firms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Choosing the Right MBA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Full‑time, part‑time, executive differences in duration, cost, ROI (US News,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Guide selection criteria across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Financing Your 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45%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students receiving scholarships or employer sponsorship (GMAC 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Scholarships cover up to $30,000 per student, reducing tuition burden for 45% of candidates (GMAC 2023)   ▪  Employer sponsorship averages $20,000 contribution, often tied to post‑graduation service agreements (Fortune 2022)   ▪  Federal Direct Unsubsidized Loans provide up to $57,500 with 6.54% interest, payable after graduation (US Dept of Ed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Application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Key milestones: research Jan, GMAT Feb, essays Mar, apps Apr‑May, decisions Jun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Provide step‑by‑step schedule for admissions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Next Steps –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Three‑step plan: research, prepare, apply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Summarize immediate actions for the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Business Case for an 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Jade Executive Boardroom - Copper Point Resort by CKGolf (CC BY-SA 2.0) https://www.flickr.com/photos/42448896@N05/5886629798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