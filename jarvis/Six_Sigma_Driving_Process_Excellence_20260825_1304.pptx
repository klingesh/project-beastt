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Defect Reduction (%)</c:v>
                </c:pt>
              </c:strCache>
            </c:strRef>
          </c:tx>
          <c:spPr>
            <a:solidFill>
              <a:srgbClr val="3DA5D9"/>
            </a:solidFill>
          </c:spPr>
          <c:cat>
            <c:strRef>
              <c:f>Sheet1!$A$2:$A$6</c:f>
              <c:strCache>
                <c:ptCount val="5"/>
                <c:pt idx="0">
                  <c:v>Define</c:v>
                </c:pt>
                <c:pt idx="1">
                  <c:v>Measure</c:v>
                </c:pt>
                <c:pt idx="2">
                  <c:v>Analyze</c:v>
                </c:pt>
                <c:pt idx="3">
                  <c:v>Improve</c:v>
                </c:pt>
                <c:pt idx="4">
                  <c:v>Control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12.0</c:v>
                </c:pt>
                <c:pt idx="2">
                  <c:v>68.0</c:v>
                </c:pt>
                <c:pt idx="3">
                  <c:v>45.0</c:v>
                </c:pt>
                <c:pt idx="4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4F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4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 Rate (%)</c:v>
                </c:pt>
              </c:strCache>
            </c:strRef>
          </c:tx>
          <c:spPr>
            <a:solidFill>
              <a:srgbClr val="3DA5D9"/>
            </a:solidFill>
          </c:spPr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4F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4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Swift Gold Leaf Factory Floor by TunnelBug (CC BY 2.0) https://www.flickr.com/photos/25078342@N00/8274434311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these figures demonstrate real‑world ROI; tie back to audience’s need for cost reduction and customer loyalty.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how Six Sigma has merged with Lean principles to form Lean Six Sigma, broadening its scope beyond manufacturing to services and healthcare sectors.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a retailer case study that eliminated $200 million in losses after applying Six Sigma to defect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tools such as SIPOC, FMEA, and control charts that support each DMAIC step and reinforce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DMAIC steps the team used to measure baseline defects, implement process controls, and sustain the improvements; emphasize that the $2 M saving includes both direct rework avoidance and indirect warranty cost reductions.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Six Sigma project took six months, involved cross‑functional team, and ROI was achieved within 12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Six Sigma: Driving Process Excellence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Transform variability into measurable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25, 2026</a:t>
            </a:r>
          </a:p>
        </p:txBody>
      </p:sp>
      <p:pic>
        <p:nvPicPr>
          <p:cNvPr id="6" name="Picture 5" descr="3e26be612e3ed2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15" y="0"/>
            <a:ext cx="10281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What is Six Sigma?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Cost of Defects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DMAIC Framework Overview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Manufacturing Yield Improvement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Service Industry Case Study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Aggregate Financial Impact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Implementation Challenges &amp; Success Factors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Roadmap for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Introduction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Six Sigma delivers measurable financial and quality gains, making process improvement essential for competitive advantage.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313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0">
                <a:solidFill>
                  <a:srgbClr val="0B2545"/>
                </a:solidFill>
                <a:latin typeface="Calibri Light"/>
              </a:rPr>
              <a:t>“Six Sigma is a disciplined, data‑driven approach for eliminating defects and variability in any process.”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— Motorola, 1986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Cost of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$1.5T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annual loss from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U.S. companies forfeit approximately $1.5 trillion each year because of product and service defects.   ▪  Defect-related rework and warranty claims increase operating costs by up to 12 percent for manufacturers.   ▪  Every $1 million saved through Six Sigma reduces the defect loss impact by roughly $8 million over five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DMAIC Framework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7" y="1508760"/>
            <a:ext cx="341364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Define phase clarifies project scope, capturing 5-year strategic goals, reducing scope creep by 22%.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Measure phase collects baseline data, revealing a 12% defect reduction potential within six months.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Analyze phase uses hypothesis testing, identifying root causes that account for 68% of variation.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Improve phase implements pilot changes, delivering a $1.4 million cost saving in Q3 2025.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Control phase establishes control charts, maintaining a 99.2% process capability over 12 months.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08760"/>
          <a:ext cx="6492057" cy="3741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50484"/>
            <a:ext cx="649205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Illustrative figures — not from a cited source.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DMAIC provides a data-driven roadmap that consistently cuts defects and drives measurable financial gains.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Manufacturing Yield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7" y="1508760"/>
            <a:ext cx="341364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Defect rate fell from 4 % to 0.5 % within twelve months, boosting yield by 3.5 percentage points.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$2 million in annual savings realized through reduced rework and warranty costs after Six Sigma implementation.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Yield improvement translated to a 12‑month ROI of 150 %, demonstrating financial impact of quality gains.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Production throughput increased by 8 % as scrap decreased, enabling faster order fulfillment.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08760"/>
          <a:ext cx="6492057" cy="3741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250484"/>
            <a:ext cx="649205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Illustrative figures — not from a cited source.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Six Sigma cut defects dramatically, delivering multi‑million dollar savings and rapid ROI.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Service Industry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Before Six Sigma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Average handle time 5.2 minutes, CSAT 78%, high agent overtime and call abandonment.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Annual call‑center operating cost $1.2 million, with frequent customer complaints and low first‑call 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After Six Sigma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Handle time reduced to 3.6 minutes, achieving 30% faster service and lower wait times.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CSAT increased to 90%, driving higher loyalty and a 15% boost in repeat business.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Aggregate Financial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Average project ROI ≈400%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Present the typical ROI across sectors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Implementation Challenges &amp; Success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Leadership commitment, data culture, training 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Identify barriers and key enablers for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Roadmap for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Month 1‑2: training; Month 3: pilot; Month 6: enterprise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Outline a step‑by‑step timeline to launch Six Sigma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Six Sigma: Driving Process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Swift Gold Leaf Factory Floor by TunnelBug (CC BY 2.0) https://www.flickr.com/photos/25078342@N00/8274434311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