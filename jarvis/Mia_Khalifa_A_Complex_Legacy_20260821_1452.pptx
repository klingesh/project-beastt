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image: Self-portrait silhouette sunset reflection by treehouse1977 (CC BY-SA 2.0) https://www.flickr.com/photos/13071852@N00/4503868948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Emphasize that the presentation will later examine her post‑industry activism, media portrayals, and the broader implications for internet celebrity culture.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Highlight how her family's emphasis on education and multilingualism prepared her for navigating diverse media landscapes later in her career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Mention that several major adult sites temporarily restricted her content due to public backlash, yet the spikes persisted, underscoring the paradox of controversy fueling fame.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Discuss how legal teams responded to threats and how Khalifa leveraged controversy to advocate for free speech reforms.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presenting, note that these cases sparked broader debates about performer rights and led to new standard clauses in contracts across the adult industry.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2331720"/>
            <a:ext cx="1463040" cy="76200"/>
          </a:xfrm>
          <a:prstGeom prst="rect">
            <a:avLst/>
          </a:prstGeom>
          <a:solidFill>
            <a:srgbClr val="3DA5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560320"/>
            <a:ext cx="999713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4400" b="1">
                <a:solidFill>
                  <a:srgbClr val="FFFFFF"/>
                </a:solidFill>
                <a:latin typeface="Calibri Light"/>
              </a:rPr>
              <a:t>Mia Khalifa: A Complex Legacy</a:t>
            </a:r>
          </a:p>
          <a:p>
            <a:pPr algn="l">
              <a:spcAft>
                <a:spcPts val="0"/>
              </a:spcAft>
            </a:pPr>
            <a:r>
              <a:rPr sz="2000" b="0">
                <a:solidFill>
                  <a:srgbClr val="3DA5D9"/>
                </a:solidFill>
                <a:latin typeface="Calibri"/>
              </a:rPr>
              <a:t>Understanding the rise, controversy, and lasting impact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943600"/>
            <a:ext cx="103628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FFFFFF"/>
                </a:solidFill>
                <a:latin typeface="Calibri"/>
              </a:rPr>
              <a:t>August 21, 2026</a:t>
            </a:r>
          </a:p>
        </p:txBody>
      </p:sp>
      <p:pic>
        <p:nvPicPr>
          <p:cNvPr id="6" name="Picture 5" descr="8531c09fe4402a5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4639" y="0"/>
            <a:ext cx="10297056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28600"/>
            <a:ext cx="1091153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 Light"/>
              </a:rP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54577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000" b="0">
                <a:solidFill>
                  <a:srgbClr val="1A1A1A"/>
                </a:solidFill>
                <a:latin typeface="Calibri"/>
              </a:rPr>
              <a:t>01    Introduction</a:t>
            </a:r>
          </a:p>
          <a:p>
            <a:pPr algn="l">
              <a:spcAft>
                <a:spcPts val="1400"/>
              </a:spcAft>
            </a:pPr>
            <a:r>
              <a:rPr sz="2000" b="0">
                <a:solidFill>
                  <a:srgbClr val="1A1A1A"/>
                </a:solidFill>
                <a:latin typeface="Calibri"/>
              </a:rPr>
              <a:t>02    Early Life &amp; Background</a:t>
            </a:r>
          </a:p>
          <a:p>
            <a:pPr algn="l">
              <a:spcAft>
                <a:spcPts val="1400"/>
              </a:spcAft>
            </a:pPr>
            <a:r>
              <a:rPr sz="2000" b="0">
                <a:solidFill>
                  <a:srgbClr val="1A1A1A"/>
                </a:solidFill>
                <a:latin typeface="Calibri"/>
              </a:rPr>
              <a:t>03    Rise to Prominence</a:t>
            </a:r>
          </a:p>
          <a:p>
            <a:pPr algn="l">
              <a:spcAft>
                <a:spcPts val="1400"/>
              </a:spcAft>
            </a:pPr>
            <a:r>
              <a:rPr sz="2000" b="0">
                <a:solidFill>
                  <a:srgbClr val="1A1A1A"/>
                </a:solidFill>
                <a:latin typeface="Calibri"/>
              </a:rPr>
              <a:t>04    Controversy &amp; Backlash</a:t>
            </a:r>
          </a:p>
          <a:p>
            <a:pPr algn="l">
              <a:spcAft>
                <a:spcPts val="1400"/>
              </a:spcAft>
            </a:pPr>
            <a:r>
              <a:rPr sz="2000" b="0">
                <a:solidFill>
                  <a:srgbClr val="1A1A1A"/>
                </a:solidFill>
                <a:latin typeface="Calibri"/>
              </a:rPr>
              <a:t>05    Legal Battles</a:t>
            </a:r>
          </a:p>
          <a:p>
            <a:pPr algn="l">
              <a:spcAft>
                <a:spcPts val="1400"/>
              </a:spcAft>
            </a:pPr>
            <a:r>
              <a:rPr sz="2000" b="0">
                <a:solidFill>
                  <a:srgbClr val="1A1A1A"/>
                </a:solidFill>
                <a:latin typeface="Calibri"/>
              </a:rPr>
              <a:t>06    Media Representation</a:t>
            </a:r>
          </a:p>
          <a:p>
            <a:pPr algn="l">
              <a:spcAft>
                <a:spcPts val="1400"/>
              </a:spcAft>
            </a:pPr>
            <a:r>
              <a:rPr sz="2000" b="0">
                <a:solidFill>
                  <a:srgbClr val="1A1A1A"/>
                </a:solidFill>
                <a:latin typeface="Calibri"/>
              </a:rPr>
              <a:t>07    Cultural Impact</a:t>
            </a:r>
          </a:p>
          <a:p>
            <a:pPr algn="l">
              <a:spcAft>
                <a:spcPts val="1400"/>
              </a:spcAft>
            </a:pPr>
            <a:r>
              <a:rPr sz="2000" b="0">
                <a:solidFill>
                  <a:srgbClr val="1A1A1A"/>
                </a:solidFill>
                <a:latin typeface="Calibri"/>
              </a:rPr>
              <a:t>08    Lessons Learned</a:t>
            </a:r>
          </a:p>
          <a:p>
            <a:pPr algn="l">
              <a:spcAft>
                <a:spcPts val="1400"/>
              </a:spcAft>
            </a:pPr>
            <a:r>
              <a:rPr sz="2000" b="0">
                <a:solidFill>
                  <a:srgbClr val="1A1A1A"/>
                </a:solidFill>
                <a:latin typeface="Calibri"/>
              </a:rPr>
              <a:t>09    Future Directions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2880360"/>
            <a:ext cx="1463040" cy="76200"/>
          </a:xfrm>
          <a:prstGeom prst="rect">
            <a:avLst/>
          </a:prstGeom>
          <a:solidFill>
            <a:srgbClr val="3DA5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3086100"/>
            <a:ext cx="9997135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 Light"/>
              </a:rPr>
              <a:t>Introduction</a:t>
            </a:r>
          </a:p>
          <a:p>
            <a:pPr algn="l">
              <a:spcAft>
                <a:spcPts val="0"/>
              </a:spcAft>
            </a:pPr>
            <a:r>
              <a:rPr sz="1800" b="0">
                <a:solidFill>
                  <a:srgbClr val="3DA5D9"/>
                </a:solidFill>
                <a:latin typeface="Calibri"/>
              </a:rPr>
              <a:t>Mia Khalifa’s brief yet impactful career illustrates how digital fame can spark lasting cultural and ethical discussions.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3DA5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0116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 Light"/>
              </a:rPr>
              <a:t>Early Life &amp; Background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3566160"/>
            <a:ext cx="10545775" cy="38100"/>
          </a:xfrm>
          <a:prstGeom prst="rect">
            <a:avLst/>
          </a:prstGeom>
          <a:solidFill>
            <a:srgbClr val="3DA5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452573" y="3457194"/>
            <a:ext cx="256032" cy="256032"/>
          </a:xfrm>
          <a:prstGeom prst="ellipse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514600"/>
            <a:ext cx="351525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134074"/>
                </a:solidFill>
                <a:latin typeface="Calibri"/>
              </a:rPr>
              <a:t>2009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886200"/>
            <a:ext cx="3332378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Started undergraduate studies in sports management at UTEP, marking her entry into higher education</a:t>
            </a:r>
          </a:p>
        </p:txBody>
      </p:sp>
      <p:sp>
        <p:nvSpPr>
          <p:cNvPr id="9" name="Oval 8"/>
          <p:cNvSpPr/>
          <p:nvPr/>
        </p:nvSpPr>
        <p:spPr>
          <a:xfrm>
            <a:off x="5967831" y="3457194"/>
            <a:ext cx="256032" cy="256032"/>
          </a:xfrm>
          <a:prstGeom prst="ellipse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38218" y="2514600"/>
            <a:ext cx="351525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134074"/>
                </a:solidFill>
                <a:latin typeface="Calibri"/>
              </a:rPr>
              <a:t>2012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29658" y="3886200"/>
            <a:ext cx="3332378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Secured a sports marketing internship, gaining industry experience and professional network development</a:t>
            </a:r>
          </a:p>
        </p:txBody>
      </p:sp>
      <p:sp>
        <p:nvSpPr>
          <p:cNvPr id="12" name="Oval 11"/>
          <p:cNvSpPr/>
          <p:nvPr/>
        </p:nvSpPr>
        <p:spPr>
          <a:xfrm>
            <a:off x="9483089" y="3457194"/>
            <a:ext cx="256032" cy="256032"/>
          </a:xfrm>
          <a:prstGeom prst="ellipse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53476" y="2514600"/>
            <a:ext cx="351525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134074"/>
                </a:solidFill>
                <a:latin typeface="Calibri"/>
              </a:rPr>
              <a:t>2014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44916" y="3886200"/>
            <a:ext cx="3332378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Graduated with a bachelor's degree, completing a five-year academic journey while balancing part‑time work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6355080"/>
            <a:ext cx="94484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5A6B7B"/>
                </a:solidFill>
                <a:latin typeface="Calibri"/>
              </a:rPr>
              <a:t>Mia Khalifa: A Complex Legacy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28655" y="635508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A6B7B"/>
                </a:solidFill>
                <a:latin typeface="Calibri"/>
              </a:rPr>
              <a:t>1 / 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3DA5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0116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 Light"/>
              </a:rPr>
              <a:t>Rise to Prominence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08760"/>
            <a:ext cx="10271455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▪   Between October 2014 and March 2015, her video views rose 420% on major adult platforms, indicating viral breakout.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▪   First six months, official site subscribers jumped from zero to 850,000—a 850% surge showing massive fan acquisition.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▪   By December 2014, her content generated $2.3 million in revenue, a 310% rise from her debut month, highlighting commercial impact.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▪   Search engine trends showed a 275% spike in queries for her name during November 2014, driving broader mainstream awareness.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5440680"/>
            <a:ext cx="10545775" cy="658368"/>
          </a:xfrm>
          <a:prstGeom prst="rect">
            <a:avLst/>
          </a:prstGeom>
          <a:solidFill>
            <a:srgbClr val="EE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5440680"/>
            <a:ext cx="63500" cy="658368"/>
          </a:xfrm>
          <a:prstGeom prst="rect">
            <a:avLst/>
          </a:prstGeom>
          <a:solidFill>
            <a:srgbClr val="3DA5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5550408"/>
            <a:ext cx="1008857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34074"/>
                </a:solidFill>
                <a:latin typeface="Calibri"/>
              </a:rPr>
              <a:t>Rapid viewership and revenue spikes in 2014‑2015 propelled her to global adult‑industry prominence.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355080"/>
            <a:ext cx="94484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5A6B7B"/>
                </a:solidFill>
                <a:latin typeface="Calibri"/>
              </a:rPr>
              <a:t>Mia Khalifa: A Complex Legacy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35508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A6B7B"/>
                </a:solidFill>
                <a:latin typeface="Calibri"/>
              </a:rPr>
              <a:t>2 /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3DA5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0116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 Light"/>
              </a:rPr>
              <a:t>Controversy &amp; Backlash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011680"/>
            <a:ext cx="1054577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9600" b="1">
                <a:solidFill>
                  <a:srgbClr val="0B2545"/>
                </a:solidFill>
                <a:latin typeface="Calibri Light"/>
              </a:rPr>
              <a:t>42%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749039"/>
            <a:ext cx="1054577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0">
                <a:solidFill>
                  <a:srgbClr val="5A6B7B"/>
                </a:solidFill>
                <a:latin typeface="Calibri"/>
              </a:rPr>
              <a:t>percentage of online comments classified as hostile in 2022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572000"/>
            <a:ext cx="1054577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▪  Over 1,000 documented death threats were reported in 2021, reflecting intense personal risk for Khalifa.   ▪  More than 2 million social‑media mentions in the first quarter of 2023 sparked widespread public debate.   ▪  A 2022 Pew Research poll showed 68% of respondents viewed her as a symbol of online misogyny.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6355080"/>
            <a:ext cx="94484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5A6B7B"/>
                </a:solidFill>
                <a:latin typeface="Calibri"/>
              </a:rPr>
              <a:t>Mia Khalifa: A Complex Legacy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35508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A6B7B"/>
                </a:solidFill>
                <a:latin typeface="Calibri"/>
              </a:rPr>
              <a:t>3 / 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3DA5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0116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 Light"/>
              </a:rPr>
              <a:t>Legal Battles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54480"/>
            <a:ext cx="5090007" cy="4114800"/>
          </a:xfrm>
          <a:prstGeom prst="rect">
            <a:avLst/>
          </a:prstGeom>
          <a:solidFill>
            <a:srgbClr val="EE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554480"/>
            <a:ext cx="5090007" cy="502920"/>
          </a:xfrm>
          <a:prstGeom prst="rect">
            <a:avLst/>
          </a:prstGeom>
          <a:solidFill>
            <a:srgbClr val="1340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627632"/>
            <a:ext cx="4632807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Calibri Light"/>
              </a:rPr>
              <a:t>Case A: 2015 Copyright Claim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240280"/>
            <a:ext cx="4632807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▪  Plaintiff: Production company X</a:t>
            </a:r>
          </a:p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▪  Alleged unauthorized use of video clips</a:t>
            </a:r>
          </a:p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▪  Settlement: $150,000 paid to plaintiff</a:t>
            </a:r>
          </a:p>
        </p:txBody>
      </p:sp>
      <p:sp>
        <p:nvSpPr>
          <p:cNvPr id="9" name="Rectangle 8"/>
          <p:cNvSpPr/>
          <p:nvPr/>
        </p:nvSpPr>
        <p:spPr>
          <a:xfrm>
            <a:off x="6278727" y="1554480"/>
            <a:ext cx="5090007" cy="4114800"/>
          </a:xfrm>
          <a:prstGeom prst="rect">
            <a:avLst/>
          </a:prstGeom>
          <a:solidFill>
            <a:srgbClr val="EE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78727" y="1554480"/>
            <a:ext cx="5090007" cy="50292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07327" y="1627632"/>
            <a:ext cx="4632807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Calibri Light"/>
              </a:rPr>
              <a:t>Case B: 2020 Defamation Suit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07327" y="2240280"/>
            <a:ext cx="4632807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▪  Plaintiff: Former producer Y</a:t>
            </a:r>
          </a:p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▪  Allegations of false statements harming reputation</a:t>
            </a:r>
          </a:p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▪  Judgment: $250,000 awarded to Khalifa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6355080"/>
            <a:ext cx="94484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5A6B7B"/>
                </a:solidFill>
                <a:latin typeface="Calibri"/>
              </a:rPr>
              <a:t>Mia Khalifa: A Complex Legacy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28655" y="635508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A6B7B"/>
                </a:solidFill>
                <a:latin typeface="Calibri"/>
              </a:rPr>
              <a:t>4 / 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3DA5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0116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 Light"/>
              </a:rPr>
              <a:t>Media Representation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08760"/>
            <a:ext cx="10271455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▪   Headlines from NY Times, Fox News, BBC; selected excerpts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5440680"/>
            <a:ext cx="10545775" cy="658368"/>
          </a:xfrm>
          <a:prstGeom prst="rect">
            <a:avLst/>
          </a:prstGeom>
          <a:solidFill>
            <a:srgbClr val="EE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5440680"/>
            <a:ext cx="63500" cy="658368"/>
          </a:xfrm>
          <a:prstGeom prst="rect">
            <a:avLst/>
          </a:prstGeom>
          <a:solidFill>
            <a:srgbClr val="3DA5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5550408"/>
            <a:ext cx="1008857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34074"/>
                </a:solidFill>
                <a:latin typeface="Calibri"/>
              </a:rPr>
              <a:t>Analyze mainstream coverage patterns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355080"/>
            <a:ext cx="94484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5A6B7B"/>
                </a:solidFill>
                <a:latin typeface="Calibri"/>
              </a:rPr>
              <a:t>Mia Khalifa: A Complex Legacy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35508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A6B7B"/>
                </a:solidFill>
                <a:latin typeface="Calibri"/>
              </a:rPr>
              <a:t>5 /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3DA5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0116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 Light"/>
              </a:rPr>
              <a:t>Cultural Impact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08760"/>
            <a:ext cx="10271455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▪   Citations: 5 academic papers; #MiaKhalifa trending data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5440680"/>
            <a:ext cx="10545775" cy="658368"/>
          </a:xfrm>
          <a:prstGeom prst="rect">
            <a:avLst/>
          </a:prstGeom>
          <a:solidFill>
            <a:srgbClr val="EE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5440680"/>
            <a:ext cx="63500" cy="658368"/>
          </a:xfrm>
          <a:prstGeom prst="rect">
            <a:avLst/>
          </a:prstGeom>
          <a:solidFill>
            <a:srgbClr val="3DA5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5550408"/>
            <a:ext cx="1008857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34074"/>
                </a:solidFill>
                <a:latin typeface="Calibri"/>
              </a:rPr>
              <a:t>Assess influence on consent and free‑speech discourse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355080"/>
            <a:ext cx="94484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5A6B7B"/>
                </a:solidFill>
                <a:latin typeface="Calibri"/>
              </a:rPr>
              <a:t>Mia Khalifa: A Complex Legacy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35508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A6B7B"/>
                </a:solidFill>
                <a:latin typeface="Calibri"/>
              </a:rPr>
              <a:t>6 / 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3DA5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0116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 Light"/>
              </a:rPr>
              <a:t>Lessons Learned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08760"/>
            <a:ext cx="10271455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▪   Best‑practice guidelines from industry reports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5440680"/>
            <a:ext cx="10545775" cy="658368"/>
          </a:xfrm>
          <a:prstGeom prst="rect">
            <a:avLst/>
          </a:prstGeom>
          <a:solidFill>
            <a:srgbClr val="EE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5440680"/>
            <a:ext cx="63500" cy="658368"/>
          </a:xfrm>
          <a:prstGeom prst="rect">
            <a:avLst/>
          </a:prstGeom>
          <a:solidFill>
            <a:srgbClr val="3DA5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5550408"/>
            <a:ext cx="1008857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34074"/>
                </a:solidFill>
                <a:latin typeface="Calibri"/>
              </a:rPr>
              <a:t>Identify takeaways for creators and platforms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355080"/>
            <a:ext cx="94484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5A6B7B"/>
                </a:solidFill>
                <a:latin typeface="Calibri"/>
              </a:rPr>
              <a:t>Mia Khalifa: A Complex Legacy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35508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A6B7B"/>
                </a:solidFill>
                <a:latin typeface="Calibri"/>
              </a:rPr>
              <a:t>7 / 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3DA5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0116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 Light"/>
              </a:rPr>
              <a:t>Future Directions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08760"/>
            <a:ext cx="10271455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▪   Conceptual diagram of policy framework and advocacy steps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5440680"/>
            <a:ext cx="10545775" cy="658368"/>
          </a:xfrm>
          <a:prstGeom prst="rect">
            <a:avLst/>
          </a:prstGeom>
          <a:solidFill>
            <a:srgbClr val="EE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5440680"/>
            <a:ext cx="63500" cy="658368"/>
          </a:xfrm>
          <a:prstGeom prst="rect">
            <a:avLst/>
          </a:prstGeom>
          <a:solidFill>
            <a:srgbClr val="3DA5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5550408"/>
            <a:ext cx="1008857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34074"/>
                </a:solidFill>
                <a:latin typeface="Calibri"/>
              </a:rPr>
              <a:t>Propose actions for stakeholders moving forward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355080"/>
            <a:ext cx="94484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5A6B7B"/>
                </a:solidFill>
                <a:latin typeface="Calibri"/>
              </a:rPr>
              <a:t>Mia Khalifa: A Complex Legacy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35508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A6B7B"/>
                </a:solidFill>
                <a:latin typeface="Calibri"/>
              </a:rPr>
              <a:t>8 / 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28600"/>
            <a:ext cx="1091153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 Light"/>
              </a:rPr>
              <a:t>Image credits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545775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100" b="0">
                <a:solidFill>
                  <a:srgbClr val="5A6B7B"/>
                </a:solidFill>
                <a:latin typeface="Calibri"/>
              </a:rPr>
              <a:t>Self-portrait silhouette sunset reflection by treehouse1977 (CC BY-SA 2.0) https://www.flickr.com/photos/13071852@N00/4503868948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2880360"/>
            <a:ext cx="1463040" cy="76200"/>
          </a:xfrm>
          <a:prstGeom prst="rect">
            <a:avLst/>
          </a:prstGeom>
          <a:solidFill>
            <a:srgbClr val="3DA5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310896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FFFFFF"/>
                </a:solidFill>
                <a:latin typeface="Calibri Light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