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friends. I am Lingesh K, Register Number OSI2509030. Today, I will present my AI consulting solution for Max Fashion, one of India's leading fashion retail brands, focusing on how Artificial Intelligence can solve key business challenges in the retail industry.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is one of India's largest value fashion retailers, established in 2004. It offers affordable clothing, footwear, and accessories for men, women, and children through hundreds of stores and online platforms. Its goal is to provide trendy fashion at affordable prices while delivering a great customer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currently faces three major challenges: The company struggles to accurately predict customer demand. This can lead to either excess inventory or stock shortages, affecting sales and increasing costs. Every customer has different fashion preferences, but generic recommendations reduce customer engagement and sales opportunities. Managing thousands of products across multiple stores is difficult. Poor inventory management can result in slow-moving stock and increased operational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these challenges, I recommend the following AI-based solutions: Demand Forecasting AI AI analyzes historical sales, seasonal trends, and customer demand to accurately predict future sales. This helps reduce overstocking and stock shortages. Recommendation Engine AI studies customer browsing history and purchase behavior to recommend personalized fashion products, increasing customer satisfaction and sales. Smart Inventory AI AI monitors inventory across all stores in real time and automatically recommends stock transfers and replenishment, improving inventory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selected five AI tools suitable for Max Fashion: Microsoft Azure AI Predicts customer demand. Helps improve sales forecasting. Risk: High implementation cost and dependence on cloud infrastructure. Google Vertex AI Predicts customer buying behavior. Improves personalized marketing. Risk: Requires large amounts of quality customer data, which raises privacy concerns. IBM Watson Provides AI-powered customer support through chatbots. Answers customer queries 24/7. Risk: The chatbot may misunderstand complex customer questions, reducing customer satisfaction. Salesforce Einstein Provides persona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will follow five phases: Month 1: Data Collection Month 2: AI Model Development Month 3: Pilot Testing Month 4: Employee Training Month 5: Full Deployment Continuous monitoring and improvements will ensure long-term success.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Although AI offers many benefits, it also introduces certain risks: Data Privacy: Customer information must be protected. Cybersecurity: AI systems should be safeguarded against cyberattacks. AI Bias: Recommendations should remain fair and unbiased. Employee Adaptation: Staff need proper training to work with AI. High Initial Cost: Implementing AI requires significant upfront investment.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measure AI success, Max Fashion can track these Key Performance Indicators: Sales Growth: Increase by approximately 18% Inventory Accuracy: 95% or higher Improved Customer Satisfaction Better Product Availability Reduced Operational Costs These KPIs will help evaluate the impact of AI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implementing AI, Max Fashion can: Improve demand forecasting. Reduce inventory costs. Deliver personalized shopping experiences. Increase employee productivity. Make faster business decisions. Improve profitability and customer satisfaction. In conclusion, AI can transform Max Fashion into a smarter, more efficient, and customer-focused retail organization, giving it a stronger competitive advantage in the fashion retail industry.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60320"/>
            <a:ext cx="9997135" cy="2011680"/>
          </a:xfrm>
          <a:prstGeom prst="rect">
            <a:avLst/>
          </a:prstGeom>
          <a:noFill/>
        </p:spPr>
        <p:txBody>
          <a:bodyPr wrap="square">
            <a:spAutoFit/>
          </a:bodyPr>
          <a:lstStyle/>
          <a:p>
            <a:pPr algn="l">
              <a:spcAft>
                <a:spcPts val="600"/>
              </a:spcAft>
            </a:pPr>
            <a:r>
              <a:rPr sz="4400" b="1">
                <a:solidFill>
                  <a:srgbClr val="FFFFFF"/>
                </a:solidFill>
                <a:latin typeface="Calibri Light"/>
              </a:rPr>
              <a:t>AI consulting solution for Max Fashion</a:t>
            </a:r>
          </a:p>
          <a:p>
            <a:pPr algn="l">
              <a:spcAft>
                <a:spcPts val="0"/>
              </a:spcAft>
            </a:pPr>
            <a:r>
              <a:rPr sz="2000" b="0">
                <a:solidFill>
                  <a:srgbClr val="3DA5D9"/>
                </a:solidFill>
                <a:latin typeface="Calibri"/>
              </a:rPr>
              <a:t>August 08, 2026</a:t>
            </a:r>
          </a:p>
        </p:txBody>
      </p:sp>
      <p:sp>
        <p:nvSpPr>
          <p:cNvPr id="5" name="TextBox 4"/>
          <p:cNvSpPr txBox="1"/>
          <p:nvPr/>
        </p:nvSpPr>
        <p:spPr>
          <a:xfrm>
            <a:off x="822960" y="5943600"/>
            <a:ext cx="10362895" cy="365760"/>
          </a:xfrm>
          <a:prstGeom prst="rect">
            <a:avLst/>
          </a:prstGeom>
          <a:noFill/>
        </p:spPr>
        <p:txBody>
          <a:bodyPr wrap="square">
            <a:spAutoFit/>
          </a:bodyPr>
          <a:lstStyle/>
          <a:p>
            <a:pPr algn="l">
              <a:spcAft>
                <a:spcPts val="600"/>
              </a:spcAft>
            </a:pPr>
            <a:r>
              <a:rPr sz="1100" b="0">
                <a:solidFill>
                  <a:srgbClr val="FFFFFF"/>
                </a:solidFill>
                <a:latin typeface="Calibri"/>
              </a:rPr>
              <a:t>August 08,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
            <a:ext cx="10911535" cy="640080"/>
          </a:xfrm>
          <a:prstGeom prst="rect">
            <a:avLst/>
          </a:prstGeom>
          <a:noFill/>
        </p:spPr>
        <p:txBody>
          <a:bodyPr wrap="square">
            <a:spAutoFit/>
          </a:bodyPr>
          <a:lstStyle/>
          <a:p>
            <a:pPr algn="l">
              <a:spcAft>
                <a:spcPts val="600"/>
              </a:spcAft>
            </a:pPr>
            <a:r>
              <a:rPr sz="3000" b="1">
                <a:solidFill>
                  <a:srgbClr val="FFFFFF"/>
                </a:solidFill>
                <a:latin typeface="Calibri Light"/>
              </a:rPr>
              <a:t>Agenda</a:t>
            </a:r>
          </a:p>
        </p:txBody>
      </p:sp>
      <p:sp>
        <p:nvSpPr>
          <p:cNvPr id="4" name="TextBox 3"/>
          <p:cNvSpPr txBox="1"/>
          <p:nvPr/>
        </p:nvSpPr>
        <p:spPr>
          <a:xfrm>
            <a:off x="822960" y="1554480"/>
            <a:ext cx="10545775" cy="4480560"/>
          </a:xfrm>
          <a:prstGeom prst="rect">
            <a:avLst/>
          </a:prstGeom>
          <a:noFill/>
        </p:spPr>
        <p:txBody>
          <a:bodyPr wrap="square">
            <a:spAutoFit/>
          </a:bodyPr>
          <a:lstStyle/>
          <a:p>
            <a:pPr algn="l">
              <a:spcAft>
                <a:spcPts val="1400"/>
              </a:spcAft>
            </a:pPr>
            <a:r>
              <a:rPr sz="2000" b="0">
                <a:solidFill>
                  <a:srgbClr val="1A1A1A"/>
                </a:solidFill>
                <a:latin typeface="Calibri"/>
              </a:rPr>
              <a:t>01    Introduction</a:t>
            </a:r>
          </a:p>
          <a:p>
            <a:pPr algn="l">
              <a:spcAft>
                <a:spcPts val="1400"/>
              </a:spcAft>
            </a:pPr>
            <a:r>
              <a:rPr sz="2000" b="0">
                <a:solidFill>
                  <a:srgbClr val="1A1A1A"/>
                </a:solidFill>
                <a:latin typeface="Calibri"/>
              </a:rPr>
              <a:t>02    About Max Fashion</a:t>
            </a:r>
          </a:p>
          <a:p>
            <a:pPr algn="l">
              <a:spcAft>
                <a:spcPts val="1400"/>
              </a:spcAft>
            </a:pPr>
            <a:r>
              <a:rPr sz="2000" b="0">
                <a:solidFill>
                  <a:srgbClr val="1A1A1A"/>
                </a:solidFill>
                <a:latin typeface="Calibri"/>
              </a:rPr>
              <a:t>03    Business Problems</a:t>
            </a:r>
          </a:p>
          <a:p>
            <a:pPr algn="l">
              <a:spcAft>
                <a:spcPts val="1400"/>
              </a:spcAft>
            </a:pPr>
            <a:r>
              <a:rPr sz="2000" b="0">
                <a:solidFill>
                  <a:srgbClr val="1A1A1A"/>
                </a:solidFill>
                <a:latin typeface="Calibri"/>
              </a:rPr>
              <a:t>04    AI Solutions</a:t>
            </a:r>
          </a:p>
          <a:p>
            <a:pPr algn="l">
              <a:spcAft>
                <a:spcPts val="1400"/>
              </a:spcAft>
            </a:pPr>
            <a:r>
              <a:rPr sz="2000" b="0">
                <a:solidFill>
                  <a:srgbClr val="1A1A1A"/>
                </a:solidFill>
                <a:latin typeface="Calibri"/>
              </a:rPr>
              <a:t>05    AI Tools</a:t>
            </a:r>
          </a:p>
          <a:p>
            <a:pPr algn="l">
              <a:spcAft>
                <a:spcPts val="1400"/>
              </a:spcAft>
            </a:pPr>
            <a:r>
              <a:rPr sz="2000" b="0">
                <a:solidFill>
                  <a:srgbClr val="1A1A1A"/>
                </a:solidFill>
                <a:latin typeface="Calibri"/>
              </a:rPr>
              <a:t>06    AI Tools (cont.)</a:t>
            </a:r>
          </a:p>
          <a:p>
            <a:pPr algn="l">
              <a:spcAft>
                <a:spcPts val="1400"/>
              </a:spcAft>
            </a:pPr>
            <a:r>
              <a:rPr sz="2000" b="0">
                <a:solidFill>
                  <a:srgbClr val="1A1A1A"/>
                </a:solidFill>
                <a:latin typeface="Calibri"/>
              </a:rPr>
              <a:t>07    AI Implementation Plan</a:t>
            </a:r>
          </a:p>
          <a:p>
            <a:pPr algn="l">
              <a:spcAft>
                <a:spcPts val="1400"/>
              </a:spcAft>
            </a:pPr>
            <a:r>
              <a:rPr sz="2000" b="0">
                <a:solidFill>
                  <a:srgbClr val="1A1A1A"/>
                </a:solidFill>
                <a:latin typeface="Calibri"/>
              </a:rPr>
              <a:t>08    Risks &amp; Ethical Issues</a:t>
            </a:r>
          </a:p>
          <a:p>
            <a:pPr algn="l">
              <a:spcAft>
                <a:spcPts val="1400"/>
              </a:spcAft>
            </a:pPr>
            <a:r>
              <a:rPr sz="2000" b="0">
                <a:solidFill>
                  <a:srgbClr val="1A1A1A"/>
                </a:solidFill>
                <a:latin typeface="Calibri"/>
              </a:rPr>
              <a:t>09    KPIs</a:t>
            </a:r>
          </a:p>
          <a:p>
            <a:pPr algn="l">
              <a:spcAft>
                <a:spcPts val="1400"/>
              </a:spcAft>
            </a:pPr>
            <a:r>
              <a:rPr sz="2000" b="0">
                <a:solidFill>
                  <a:srgbClr val="1A1A1A"/>
                </a:solidFill>
                <a:latin typeface="Calibri"/>
              </a:rPr>
              <a:t>10    Benefits and Conclusion</a:t>
            </a:r>
          </a:p>
          <a:p>
            <a:pPr algn="l">
              <a:spcAft>
                <a:spcPts val="1400"/>
              </a:spcAft>
            </a:pPr>
            <a:r>
              <a:rPr sz="2000" b="0">
                <a:solidFill>
                  <a:srgbClr val="1A1A1A"/>
                </a:solidFill>
                <a:latin typeface="Calibri"/>
              </a:rPr>
              <a:t>11    Benefits and Conclusion (cont.)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Introduction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Good morning, respected faculty and friends.</a:t>
            </a:r>
          </a:p>
          <a:p>
            <a:pPr algn="l">
              <a:lnSpc>
                <a:spcPct val="115000"/>
              </a:lnSpc>
              <a:spcAft>
                <a:spcPts val="1200"/>
              </a:spcAft>
            </a:pPr>
            <a:r>
              <a:rPr sz="1800" b="0">
                <a:solidFill>
                  <a:srgbClr val="1A1A1A"/>
                </a:solidFill>
                <a:latin typeface="Calibri"/>
              </a:rPr>
              <a:t>▪   I am Lingesh K, Register Number OSI2509030.</a:t>
            </a:r>
          </a:p>
          <a:p>
            <a:pPr algn="l">
              <a:lnSpc>
                <a:spcPct val="115000"/>
              </a:lnSpc>
              <a:spcAft>
                <a:spcPts val="1200"/>
              </a:spcAft>
            </a:pPr>
            <a:r>
              <a:rPr sz="1800" b="0">
                <a:solidFill>
                  <a:srgbClr val="1A1A1A"/>
                </a:solidFill>
                <a:latin typeface="Calibri"/>
              </a:rPr>
              <a:t>▪   Today, I will present my AI consulting solution for Max Fashion, one of India's leading fashion retail brands, focusing on how Artificial Intelligence can solve key business challenges in the retail industry.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About Max Fashion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Max Fashion is one of India's largest value fashion retailers, established in 2004.</a:t>
            </a:r>
          </a:p>
          <a:p>
            <a:pPr algn="l">
              <a:lnSpc>
                <a:spcPct val="115000"/>
              </a:lnSpc>
              <a:spcAft>
                <a:spcPts val="1200"/>
              </a:spcAft>
            </a:pPr>
            <a:r>
              <a:rPr sz="1800" b="0">
                <a:solidFill>
                  <a:srgbClr val="1A1A1A"/>
                </a:solidFill>
                <a:latin typeface="Calibri"/>
              </a:rPr>
              <a:t>▪   It offers affordable clothing, footwear, and accessories for men, women, and children through hundreds of stores and online platforms.</a:t>
            </a:r>
          </a:p>
          <a:p>
            <a:pPr algn="l">
              <a:lnSpc>
                <a:spcPct val="115000"/>
              </a:lnSpc>
              <a:spcAft>
                <a:spcPts val="1200"/>
              </a:spcAft>
            </a:pPr>
            <a:r>
              <a:rPr sz="1800" b="0">
                <a:solidFill>
                  <a:srgbClr val="1A1A1A"/>
                </a:solidFill>
                <a:latin typeface="Calibri"/>
              </a:rPr>
              <a:t>▪   Its goal is to provide trendy fashion at affordable prices while delivering a great customer experience.</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2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Business Problems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Demand Forecasting</a:t>
            </a:r>
          </a:p>
          <a:p>
            <a:pPr algn="l">
              <a:lnSpc>
                <a:spcPct val="115000"/>
              </a:lnSpc>
              <a:spcAft>
                <a:spcPts val="1200"/>
              </a:spcAft>
            </a:pPr>
            <a:r>
              <a:rPr sz="1800" b="0">
                <a:solidFill>
                  <a:srgbClr val="1A1A1A"/>
                </a:solidFill>
                <a:latin typeface="Calibri"/>
              </a:rPr>
              <a:t>▪   Customer Personalization</a:t>
            </a:r>
          </a:p>
          <a:p>
            <a:pPr algn="l">
              <a:lnSpc>
                <a:spcPct val="115000"/>
              </a:lnSpc>
              <a:spcAft>
                <a:spcPts val="1200"/>
              </a:spcAft>
            </a:pPr>
            <a:r>
              <a:rPr sz="1800" b="0">
                <a:solidFill>
                  <a:srgbClr val="1A1A1A"/>
                </a:solidFill>
                <a:latin typeface="Calibri"/>
              </a:rPr>
              <a:t>▪   Inventory Management</a:t>
            </a:r>
          </a:p>
          <a:p>
            <a:pPr algn="l">
              <a:lnSpc>
                <a:spcPct val="115000"/>
              </a:lnSpc>
              <a:spcAft>
                <a:spcPts val="1200"/>
              </a:spcAft>
            </a:pPr>
            <a:r>
              <a:rPr sz="1800" b="0">
                <a:solidFill>
                  <a:srgbClr val="1A1A1A"/>
                </a:solidFill>
                <a:latin typeface="Calibri"/>
              </a:rPr>
              <a:t>▪   Max Fashion currently faces three major challenges</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company struggles to accurately predict customer demand. This can lead to either excess inventory or stock shortages, affecting sales and increasing costs.</a:t>
            </a:r>
          </a:p>
          <a:p>
            <a:pPr algn="l">
              <a:lnSpc>
                <a:spcPct val="115000"/>
              </a:lnSpc>
              <a:spcAft>
                <a:spcPts val="1200"/>
              </a:spcAft>
            </a:pPr>
            <a:r>
              <a:rPr sz="1800" b="0">
                <a:solidFill>
                  <a:srgbClr val="1A1A1A"/>
                </a:solidFill>
                <a:latin typeface="Calibri"/>
              </a:rPr>
              <a:t>▪   Every customer has different fashion preferences, but generic recommendations reduce customer engagement and sales opportunities.</a:t>
            </a:r>
          </a:p>
          <a:p>
            <a:pPr algn="l">
              <a:lnSpc>
                <a:spcPct val="115000"/>
              </a:lnSpc>
              <a:spcAft>
                <a:spcPts val="1200"/>
              </a:spcAft>
            </a:pPr>
            <a:r>
              <a:rPr sz="1800" b="0">
                <a:solidFill>
                  <a:srgbClr val="1A1A1A"/>
                </a:solidFill>
                <a:latin typeface="Calibri"/>
              </a:rPr>
              <a:t>▪   Managing thousands of products across multiple stores is difficult. Poor inventory management can result in slow-moving stock and increased operational costs.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3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Solutions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solve these challenges, I recommend the following AI-based solutions</a:t>
            </a:r>
          </a:p>
          <a:p>
            <a:pPr algn="l">
              <a:lnSpc>
                <a:spcPct val="115000"/>
              </a:lnSpc>
              <a:spcAft>
                <a:spcPts val="1200"/>
              </a:spcAft>
            </a:pPr>
            <a:r>
              <a:rPr sz="1800" b="0">
                <a:solidFill>
                  <a:srgbClr val="1A1A1A"/>
                </a:solidFill>
                <a:latin typeface="Calibri"/>
              </a:rPr>
              <a:t>▪   Demand Forecasting AI — AI analyzes historical sales, seasonal trends, and customer demand to accurately predict future sales. This helps reduce overstocking and stock shortages.</a:t>
            </a:r>
          </a:p>
          <a:p>
            <a:pPr algn="l">
              <a:lnSpc>
                <a:spcPct val="115000"/>
              </a:lnSpc>
              <a:spcAft>
                <a:spcPts val="1200"/>
              </a:spcAft>
            </a:pPr>
            <a:r>
              <a:rPr sz="1800" b="0">
                <a:solidFill>
                  <a:srgbClr val="1A1A1A"/>
                </a:solidFill>
                <a:latin typeface="Calibri"/>
              </a:rPr>
              <a:t>▪   Recommendation Engine — AI studies customer browsing history and purchase behavior to recommend personalized fashion products, increasing customer satisfaction and sales.</a:t>
            </a:r>
          </a:p>
          <a:p>
            <a:pPr algn="l">
              <a:lnSpc>
                <a:spcPct val="115000"/>
              </a:lnSpc>
              <a:spcAft>
                <a:spcPts val="1200"/>
              </a:spcAft>
            </a:pPr>
            <a:r>
              <a:rPr sz="1800" b="0">
                <a:solidFill>
                  <a:srgbClr val="1A1A1A"/>
                </a:solidFill>
                <a:latin typeface="Calibri"/>
              </a:rPr>
              <a:t>▪   Smart Inventory AI — AI monitors inventory across all stores in real time and automatically recommends stock transfers and replenishment, improving inventory efficiency.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4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 selected five AI tools suitable for Max Fashion</a:t>
            </a:r>
          </a:p>
          <a:p>
            <a:pPr algn="l">
              <a:lnSpc>
                <a:spcPct val="115000"/>
              </a:lnSpc>
              <a:spcAft>
                <a:spcPts val="1200"/>
              </a:spcAft>
            </a:pPr>
            <a:r>
              <a:rPr sz="1800" b="0">
                <a:solidFill>
                  <a:srgbClr val="1A1A1A"/>
                </a:solidFill>
                <a:latin typeface="Calibri"/>
              </a:rPr>
              <a:t>▪   Microsoft Azure AI — Predicts customer demand. Helps improve sales forecasting. Risk: High implementation cost and dependence on cloud infrastructure.</a:t>
            </a:r>
          </a:p>
          <a:p>
            <a:pPr algn="l">
              <a:lnSpc>
                <a:spcPct val="115000"/>
              </a:lnSpc>
              <a:spcAft>
                <a:spcPts val="1200"/>
              </a:spcAft>
            </a:pPr>
            <a:r>
              <a:rPr sz="1800" b="0">
                <a:solidFill>
                  <a:srgbClr val="1A1A1A"/>
                </a:solidFill>
                <a:latin typeface="Calibri"/>
              </a:rPr>
              <a:t>▪   Google Vertex AI — Predicts customer buying behavior. Improves personalized marketing. Risk: Requires large amounts of quality customer data, which raises privacy concerns.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5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IBM Watson — Provides AI-powered customer support through chatbots. Answers customer queries 24/7. Risk: The chatbot may misunderstand complex customer questions, reducing customer satisfaction.</a:t>
            </a:r>
          </a:p>
          <a:p>
            <a:pPr algn="l">
              <a:lnSpc>
                <a:spcPct val="115000"/>
              </a:lnSpc>
              <a:spcAft>
                <a:spcPts val="1200"/>
              </a:spcAft>
            </a:pPr>
            <a:r>
              <a:rPr sz="1800" b="0">
                <a:solidFill>
                  <a:srgbClr val="1A1A1A"/>
                </a:solidFill>
                <a:latin typeface="Calibri"/>
              </a:rPr>
              <a:t>▪   Salesforce Einstein — Provides personalized product recommendations. Improves customer engagement and conversion rates. Risk: Collecting and analyzing customer data may create privacy and ethical concerns.</a:t>
            </a:r>
          </a:p>
          <a:p>
            <a:pPr algn="l">
              <a:lnSpc>
                <a:spcPct val="115000"/>
              </a:lnSpc>
              <a:spcAft>
                <a:spcPts val="1200"/>
              </a:spcAft>
            </a:pPr>
            <a:r>
              <a:rPr sz="1800" b="0">
                <a:solidFill>
                  <a:srgbClr val="1A1A1A"/>
                </a:solidFill>
                <a:latin typeface="Calibri"/>
              </a:rPr>
              <a:t>▪   Power BI AI — Generates interactive dashboards and business insights. Helps managers make data-driven decisions. Risk: Poor-quality data can lead to inaccurate reports and business decisions.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6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Implementation Plan</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implementation will follow five phases</a:t>
            </a:r>
          </a:p>
          <a:p>
            <a:pPr algn="l">
              <a:lnSpc>
                <a:spcPct val="115000"/>
              </a:lnSpc>
              <a:spcAft>
                <a:spcPts val="1200"/>
              </a:spcAft>
            </a:pPr>
            <a:r>
              <a:rPr sz="1800" b="0">
                <a:solidFill>
                  <a:srgbClr val="1A1A1A"/>
                </a:solidFill>
                <a:latin typeface="Calibri"/>
              </a:rPr>
              <a:t>▪   Month 1: Data Collection</a:t>
            </a:r>
          </a:p>
          <a:p>
            <a:pPr algn="l">
              <a:lnSpc>
                <a:spcPct val="115000"/>
              </a:lnSpc>
              <a:spcAft>
                <a:spcPts val="1200"/>
              </a:spcAft>
            </a:pPr>
            <a:r>
              <a:rPr sz="1800" b="0">
                <a:solidFill>
                  <a:srgbClr val="1A1A1A"/>
                </a:solidFill>
                <a:latin typeface="Calibri"/>
              </a:rPr>
              <a:t>▪   Month 2: AI Model Development</a:t>
            </a:r>
          </a:p>
          <a:p>
            <a:pPr algn="l">
              <a:lnSpc>
                <a:spcPct val="115000"/>
              </a:lnSpc>
              <a:spcAft>
                <a:spcPts val="1200"/>
              </a:spcAft>
            </a:pPr>
            <a:r>
              <a:rPr sz="1800" b="0">
                <a:solidFill>
                  <a:srgbClr val="1A1A1A"/>
                </a:solidFill>
                <a:latin typeface="Calibri"/>
              </a:rPr>
              <a:t>▪   Month 3: Pilot Testing</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Month 4: Employee Training</a:t>
            </a:r>
          </a:p>
          <a:p>
            <a:pPr algn="l">
              <a:lnSpc>
                <a:spcPct val="115000"/>
              </a:lnSpc>
              <a:spcAft>
                <a:spcPts val="1200"/>
              </a:spcAft>
            </a:pPr>
            <a:r>
              <a:rPr sz="1800" b="0">
                <a:solidFill>
                  <a:srgbClr val="1A1A1A"/>
                </a:solidFill>
                <a:latin typeface="Calibri"/>
              </a:rPr>
              <a:t>▪   Month 5: Full Deployment</a:t>
            </a:r>
          </a:p>
          <a:p>
            <a:pPr algn="l">
              <a:lnSpc>
                <a:spcPct val="115000"/>
              </a:lnSpc>
              <a:spcAft>
                <a:spcPts val="1200"/>
              </a:spcAft>
            </a:pPr>
            <a:r>
              <a:rPr sz="1800" b="0">
                <a:solidFill>
                  <a:srgbClr val="1A1A1A"/>
                </a:solidFill>
                <a:latin typeface="Calibri"/>
              </a:rPr>
              <a:t>▪   Continuous monitoring and improvements will ensure long-term success.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7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Risks &amp; Ethical Issues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Although AI offers many benefits, it also introduces certain risks</a:t>
            </a:r>
          </a:p>
          <a:p>
            <a:pPr algn="l">
              <a:lnSpc>
                <a:spcPct val="115000"/>
              </a:lnSpc>
              <a:spcAft>
                <a:spcPts val="1200"/>
              </a:spcAft>
            </a:pPr>
            <a:r>
              <a:rPr sz="1800" b="0">
                <a:solidFill>
                  <a:srgbClr val="1A1A1A"/>
                </a:solidFill>
                <a:latin typeface="Calibri"/>
              </a:rPr>
              <a:t>▪   Data Privacy: Customer information must be protected.</a:t>
            </a:r>
          </a:p>
          <a:p>
            <a:pPr algn="l">
              <a:lnSpc>
                <a:spcPct val="115000"/>
              </a:lnSpc>
              <a:spcAft>
                <a:spcPts val="1200"/>
              </a:spcAft>
            </a:pPr>
            <a:r>
              <a:rPr sz="1800" b="0">
                <a:solidFill>
                  <a:srgbClr val="1A1A1A"/>
                </a:solidFill>
                <a:latin typeface="Calibri"/>
              </a:rPr>
              <a:t>▪   Cybersecurity: AI systems should be safeguarded against cyberattacks.</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AI Bias: Recommendations should remain fair and unbiased.</a:t>
            </a:r>
          </a:p>
          <a:p>
            <a:pPr algn="l">
              <a:lnSpc>
                <a:spcPct val="115000"/>
              </a:lnSpc>
              <a:spcAft>
                <a:spcPts val="1200"/>
              </a:spcAft>
            </a:pPr>
            <a:r>
              <a:rPr sz="1800" b="0">
                <a:solidFill>
                  <a:srgbClr val="1A1A1A"/>
                </a:solidFill>
                <a:latin typeface="Calibri"/>
              </a:rPr>
              <a:t>▪   Employee Adaptation: Staff need proper training to work with AI.</a:t>
            </a:r>
          </a:p>
          <a:p>
            <a:pPr algn="l">
              <a:lnSpc>
                <a:spcPct val="115000"/>
              </a:lnSpc>
              <a:spcAft>
                <a:spcPts val="1200"/>
              </a:spcAft>
            </a:pPr>
            <a:r>
              <a:rPr sz="1800" b="0">
                <a:solidFill>
                  <a:srgbClr val="1A1A1A"/>
                </a:solidFill>
                <a:latin typeface="Calibri"/>
              </a:rPr>
              <a:t>▪   High Initial Cost: Implementing AI requires significant upfront investment.</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8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KPIs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measure AI success, Max Fashion can track these Key Performance Indicators</a:t>
            </a:r>
          </a:p>
          <a:p>
            <a:pPr algn="l">
              <a:lnSpc>
                <a:spcPct val="115000"/>
              </a:lnSpc>
              <a:spcAft>
                <a:spcPts val="1200"/>
              </a:spcAft>
            </a:pPr>
            <a:r>
              <a:rPr sz="1800" b="0">
                <a:solidFill>
                  <a:srgbClr val="1A1A1A"/>
                </a:solidFill>
                <a:latin typeface="Calibri"/>
              </a:rPr>
              <a:t>▪   Sales Growth: Increase by approximately 18%</a:t>
            </a:r>
          </a:p>
          <a:p>
            <a:pPr algn="l">
              <a:lnSpc>
                <a:spcPct val="115000"/>
              </a:lnSpc>
              <a:spcAft>
                <a:spcPts val="1200"/>
              </a:spcAft>
            </a:pPr>
            <a:r>
              <a:rPr sz="1800" b="0">
                <a:solidFill>
                  <a:srgbClr val="1A1A1A"/>
                </a:solidFill>
                <a:latin typeface="Calibri"/>
              </a:rPr>
              <a:t>▪   Inventory Accuracy: 95% or higher</a:t>
            </a:r>
          </a:p>
          <a:p>
            <a:pPr algn="l">
              <a:lnSpc>
                <a:spcPct val="115000"/>
              </a:lnSpc>
              <a:spcAft>
                <a:spcPts val="1200"/>
              </a:spcAft>
            </a:pPr>
            <a:r>
              <a:rPr sz="1800" b="0">
                <a:solidFill>
                  <a:srgbClr val="1A1A1A"/>
                </a:solidFill>
                <a:latin typeface="Calibri"/>
              </a:rPr>
              <a:t>▪   Improved Customer Satisfaction</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Better Product Availability</a:t>
            </a:r>
          </a:p>
          <a:p>
            <a:pPr algn="l">
              <a:lnSpc>
                <a:spcPct val="115000"/>
              </a:lnSpc>
              <a:spcAft>
                <a:spcPts val="1200"/>
              </a:spcAft>
            </a:pPr>
            <a:r>
              <a:rPr sz="1800" b="0">
                <a:solidFill>
                  <a:srgbClr val="1A1A1A"/>
                </a:solidFill>
                <a:latin typeface="Calibri"/>
              </a:rPr>
              <a:t>▪   Reduced Operational Costs</a:t>
            </a:r>
          </a:p>
          <a:p>
            <a:pPr algn="l">
              <a:lnSpc>
                <a:spcPct val="115000"/>
              </a:lnSpc>
              <a:spcAft>
                <a:spcPts val="1200"/>
              </a:spcAft>
            </a:pPr>
            <a:r>
              <a:rPr sz="1800" b="0">
                <a:solidFill>
                  <a:srgbClr val="1A1A1A"/>
                </a:solidFill>
                <a:latin typeface="Calibri"/>
              </a:rPr>
              <a:t>▪   These KPIs will help evaluate the impact of AI implementation.</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By implementing AI, Max Fashion can</a:t>
            </a:r>
          </a:p>
          <a:p>
            <a:pPr algn="l">
              <a:lnSpc>
                <a:spcPct val="115000"/>
              </a:lnSpc>
              <a:spcAft>
                <a:spcPts val="1200"/>
              </a:spcAft>
            </a:pPr>
            <a:r>
              <a:rPr sz="1800" b="0">
                <a:solidFill>
                  <a:srgbClr val="1A1A1A"/>
                </a:solidFill>
                <a:latin typeface="Calibri"/>
              </a:rPr>
              <a:t>▪   Improve demand forecasting.</a:t>
            </a:r>
          </a:p>
          <a:p>
            <a:pPr algn="l">
              <a:lnSpc>
                <a:spcPct val="115000"/>
              </a:lnSpc>
              <a:spcAft>
                <a:spcPts val="1200"/>
              </a:spcAft>
            </a:pPr>
            <a:r>
              <a:rPr sz="1800" b="0">
                <a:solidFill>
                  <a:srgbClr val="1A1A1A"/>
                </a:solidFill>
                <a:latin typeface="Calibri"/>
              </a:rPr>
              <a:t>▪   Reduce inventory costs.</a:t>
            </a:r>
          </a:p>
          <a:p>
            <a:pPr algn="l">
              <a:lnSpc>
                <a:spcPct val="115000"/>
              </a:lnSpc>
              <a:spcAft>
                <a:spcPts val="1200"/>
              </a:spcAft>
            </a:pPr>
            <a:r>
              <a:rPr sz="1800" b="0">
                <a:solidFill>
                  <a:srgbClr val="1A1A1A"/>
                </a:solidFill>
                <a:latin typeface="Calibri"/>
              </a:rPr>
              <a:t>▪   Deliver personalized shopping experiences.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10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Increase employee productivity.</a:t>
            </a:r>
          </a:p>
          <a:p>
            <a:pPr algn="l">
              <a:lnSpc>
                <a:spcPct val="115000"/>
              </a:lnSpc>
              <a:spcAft>
                <a:spcPts val="1200"/>
              </a:spcAft>
            </a:pPr>
            <a:r>
              <a:rPr sz="1800" b="0">
                <a:solidFill>
                  <a:srgbClr val="1A1A1A"/>
                </a:solidFill>
                <a:latin typeface="Calibri"/>
              </a:rPr>
              <a:t>▪   Make faster business decisions.</a:t>
            </a:r>
          </a:p>
          <a:p>
            <a:pPr algn="l">
              <a:lnSpc>
                <a:spcPct val="115000"/>
              </a:lnSpc>
              <a:spcAft>
                <a:spcPts val="1200"/>
              </a:spcAft>
            </a:pPr>
            <a:r>
              <a:rPr sz="1800" b="0">
                <a:solidFill>
                  <a:srgbClr val="1A1A1A"/>
                </a:solidFill>
                <a:latin typeface="Calibri"/>
              </a:rPr>
              <a:t>▪   Improve profitability and customer satisfaction.</a:t>
            </a:r>
          </a:p>
          <a:p>
            <a:pPr algn="l">
              <a:lnSpc>
                <a:spcPct val="115000"/>
              </a:lnSpc>
              <a:spcAft>
                <a:spcPts val="1200"/>
              </a:spcAft>
            </a:pPr>
            <a:r>
              <a:rPr sz="1800" b="0">
                <a:solidFill>
                  <a:srgbClr val="1A1A1A"/>
                </a:solidFill>
                <a:latin typeface="Calibri"/>
              </a:rPr>
              <a:t>▪   In conclusion, AI can transform Max Fashion into a smarter, more efficient, and customer-focused retail organization, giving it a stronger competitive advantage in the fashion retail industry.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11 /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88036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08960"/>
            <a:ext cx="10362895" cy="1097280"/>
          </a:xfrm>
          <a:prstGeom prst="rect">
            <a:avLst/>
          </a:prstGeom>
          <a:noFill/>
        </p:spPr>
        <p:txBody>
          <a:bodyPr wrap="square">
            <a:spAutoFit/>
          </a:bodyPr>
          <a:lstStyle/>
          <a:p>
            <a:pPr algn="l">
              <a:spcAft>
                <a:spcPts val="600"/>
              </a:spcAft>
            </a:pPr>
            <a:r>
              <a:rPr sz="3600" b="1">
                <a:solidFill>
                  <a:srgbClr val="FFFFFF"/>
                </a:solidFill>
                <a:latin typeface="Calibri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